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print 1 presentation" id="{001d42b7-b189-14ff-e3a4-d53739915aa5}">
          <p14:sldIdLst>
            <p14:sldId id="256"/>
            <p14:sldId id="257"/>
            <p14:sldId id="258"/>
            <p14:sldId id="259"/>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3C49"/>
                </a:solidFill>
                <a:latin typeface="+mn-lt"/>
              </a:defRPr>
            </a:pPr>
            <a:r>
              <a:rPr sz="1400" b="0" i="0" u="none" strike="noStrike">
                <a:solidFill>
                  <a:srgbClr val="0B3C49"/>
                </a:solidFill>
                <a:latin typeface="+mn-lt"/>
              </a:rPr>
              <a:t>H1N1 vaccine uptake by doctor's recommendation</a:t>
            </a:r>
          </a:p>
        </c:rich>
      </c:tx>
      <c:layout/>
      <c:overlay val="0"/>
    </c:title>
    <c:autoTitleDeleted val="0"/>
    <c:plotArea>
      <c:layout/>
      <c:barChart>
        <c:barDir val="col"/>
        <c:grouping val="clustered"/>
        <c:varyColors val="0"/>
        <c:ser>
          <c:idx val="0"/>
          <c:order val="0"/>
          <c:tx>
            <c:strRef>
              <c:f>Sheet1!$B$1</c:f>
              <c:strCache>
                <c:ptCount val="1"/>
                <c:pt idx="0">
                  <c:v>H1N1 uptake (%)</c:v>
                </c:pt>
              </c:strCache>
            </c:strRef>
          </c:tx>
          <c:spPr>
            <a:solidFill>
              <a:srgbClr val="0E7C86"/>
            </a:solidFill>
            <a:effectLst/>
          </c:spPr>
          <c:invertIfNegative val="0"/>
          <c:dLbls>
            <c:numFmt formatCode="0&quot;%&quot;" sourceLinked="0"/>
            <c:txPr>
              <a:bodyPr/>
              <a:lstStyle/>
              <a:p>
                <a:pPr>
                  <a:defRPr b="1" i="0" strike="noStrike" sz="1600" u="none">
                    <a:solidFill>
                      <a:srgbClr val="1B2A3A"/>
                    </a:solidFill>
                    <a:latin typeface="+mn-lt"/>
                  </a:defRPr>
                </a:pPr>
              </a:p>
            </c:txPr>
            <c:showLegendKey val="0"/>
            <c:showVal val="1"/>
            <c:showCatName val="0"/>
            <c:showSerName val="0"/>
            <c:showPercent val="0"/>
            <c:showBubbleSize val="0"/>
            <c:showLeaderLines val="0"/>
          </c:dLbls>
          <c:dPt>
            <c:idx val="0"/>
            <c:invertIfNegative val="0"/>
            <c:bubble3D val="0"/>
            <c:spPr>
              <a:solidFill>
                <a:srgbClr val="0E7C86"/>
              </a:solidFill>
              <a:effectLst/>
            </c:spPr>
          </c:dPt>
          <c:dPt>
            <c:idx val="1"/>
            <c:invertIfNegative val="0"/>
            <c:bubble3D val="0"/>
            <c:spPr>
              <a:solidFill>
                <a:srgbClr val="7A8B99"/>
              </a:solidFill>
              <a:effectLst/>
            </c:spPr>
          </c:dPt>
          <c:cat>
            <c:multiLvlStrRef>
              <c:f>Sheet1!$A$2:$A$3</c:f>
              <c:multiLvlStrCache>
                <c:ptCount val="2"/>
                <c:lvl>
                  <c:pt idx="0">
                    <c:v>With doctor's recommendation</c:v>
                  </c:pt>
                  <c:pt idx="1">
                    <c:v>Without</c:v>
                  </c:pt>
                </c:lvl>
              </c:multiLvlStrCache>
            </c:multiLvlStrRef>
          </c:cat>
          <c:val>
            <c:numRef>
              <c:f>Sheet1!$B$2:$B$3</c:f>
              <c:numCache>
                <c:formatCode>General</c:formatCode>
                <c:ptCount val="2"/>
                <c:pt idx="0">
                  <c:v>53</c:v>
                </c:pt>
                <c:pt idx="1">
                  <c:v>14</c:v>
                </c:pt>
              </c:numCache>
            </c:numRef>
          </c:val>
        </c:ser>
        <c:dLbls>
          <c:numFmt formatCode="0&quot;%&quot;" sourceLinked="0"/>
          <c:txPr>
            <a:bodyPr/>
            <a:lstStyle/>
            <a:p>
              <a:pPr>
                <a:defRPr b="1" i="0" strike="noStrike" sz="1600" u="none">
                  <a:solidFill>
                    <a:srgbClr val="1B2A3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A3A"/>
                </a:solidFill>
                <a:latin typeface="+mn-lt"/>
              </a:defRPr>
            </a:pPr>
            <a:endParaRPr lang="en-US"/>
          </a:p>
        </c:txPr>
        <c:crossAx val="2094734552"/>
        <c:crosses val="autoZero"/>
        <c:auto val="1"/>
        <c:lblAlgn val="ctr"/>
        <c:noMultiLvlLbl val="1"/>
      </c:catAx>
      <c:valAx>
        <c:axId val="2094734552"/>
        <c:scaling>
          <c:orientation val="minMax"/>
          <c:max val="6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Rama (0:00-0:40). Our project uses a CDC survey from the 2009 swine flu pandemic. We want to understand what influences vaccination, so that future campaigns can reach people better. Only about one in five people got the H1N1 vaccine, and almost half got the seasonal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Uyazi (0:40-2:10). Our biggest finding is the doctor's recommendation. People who were recommended the H1N1 vaccine got it 53% of the time, against 14% without a recommendation. Beliefs matter too. Age changes a lot for the seasonal vaccine but hardly for H1N1. These are associations, not proof of 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Rama (2:10-3:40). Nearly half of the insurance answers are missing, and those people vaccinate much less. If we had filled in a guess, we would have hidden that. So we flag missing answers and keep the signal. We also applied the same rules to the test data, using only values learned from the training set, so there is no leakage. If asked about the score jump: it comes from the missing-value flags; the fill will be re-learned inside each cross-validation fold in Sprint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Uyazi (3:40-4:20). We each cleaned the data on our own first, and the results were almost identical, which gave us confidence. Then we merged our work into one reusable module and reviewed each other's changes on GitHub. If you run over time, shorten this slide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(4:20-5:00). Rama: Next we build features and train three models for each vaccine. Uyazi: Then we explain what drives the predictions and turn it into recommendations. Thank you, we're happy to take questions. Likely questions: why flags instead of filling values (slide 3), and why correlation is not causation (slide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3C4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rtlCol="0" anchor="ctr"/>
          <a:lstStyle/>
          <a:p>
            <a:pPr algn="l" indent="0" marL="0">
              <a:buNone/>
            </a:pPr>
            <a:r>
              <a:rPr lang="en-US" sz="3600" b="1" dirty="0">
                <a:solidFill>
                  <a:schemeClr val="bg1"/>
                </a:solidFill>
              </a:rPr>
              <a:t>Goal and data</a:t>
            </a:r>
            <a:endParaRPr lang="en-US" sz="3600" dirty="0"/>
          </a:p>
        </p:txBody>
      </p:sp>
      <p:sp>
        <p:nvSpPr>
          <p:cNvPr id="3" name="Goal"/>
          <p:cNvSpPr txBox="1"/>
          <p:nvPr/>
        </p:nvSpPr>
        <p:spPr>
          <a:xfrm>
            <a:off x="457200" y="1234440"/>
            <a:ext cx="8229600" cy="731520"/>
          </a:xfrm>
          <a:prstGeom prst="rect">
            <a:avLst/>
          </a:prstGeom>
          <a:noFill/>
          <a:ln/>
        </p:spPr>
        <p:txBody>
          <a:bodyPr wrap="square" lIns="0" tIns="0" rIns="0" bIns="0" rtlCol="0" anchor="t"/>
          <a:lstStyle/>
          <a:p>
            <a:pPr indent="0" marL="0">
              <a:buNone/>
            </a:pPr>
            <a:r>
              <a:rPr lang="en-US" sz="2000" dirty="0">
                <a:solidFill>
                  <a:schemeClr val="bg2"/>
                </a:solidFill>
              </a:rPr>
              <a:t>Predict who got the H1N1 and the seasonal flu vaccine, and find out why</a:t>
            </a:r>
            <a:endParaRPr lang="en-US" sz="2000" dirty="0"/>
          </a:p>
        </p:txBody>
      </p:sp>
      <p:sp>
        <p:nvSpPr>
          <p:cNvPr id="4" name="Stat respondents card"/>
          <p:cNvSpPr/>
          <p:nvPr/>
        </p:nvSpPr>
        <p:spPr>
          <a:xfrm>
            <a:off x="457200" y="2286000"/>
            <a:ext cx="2286000" cy="2103120"/>
          </a:xfrm>
          <a:prstGeom prst="roundRect">
            <a:avLst>
              <a:gd name="adj" fmla="val 4348"/>
            </a:avLst>
          </a:prstGeom>
          <a:solidFill>
            <a:schemeClr val="bg1">
              <a:alpha val="12000"/>
            </a:schemeClr>
          </a:solidFill>
          <a:ln/>
        </p:spPr>
      </p:sp>
      <p:sp>
        <p:nvSpPr>
          <p:cNvPr id="5" name="Stat respondents"/>
          <p:cNvSpPr txBox="1"/>
          <p:nvPr/>
        </p:nvSpPr>
        <p:spPr>
          <a:xfrm>
            <a:off x="685800" y="2560320"/>
            <a:ext cx="1828800" cy="822960"/>
          </a:xfrm>
          <a:prstGeom prst="rect">
            <a:avLst/>
          </a:prstGeom>
          <a:noFill/>
          <a:ln/>
        </p:spPr>
        <p:txBody>
          <a:bodyPr wrap="square" lIns="0" tIns="0" rIns="0" bIns="0" rtlCol="0" anchor="ctr"/>
          <a:lstStyle/>
          <a:p>
            <a:pPr indent="0" marL="0">
              <a:buNone/>
            </a:pPr>
            <a:r>
              <a:rPr lang="en-US" sz="3400" b="1" dirty="0">
                <a:solidFill>
                  <a:schemeClr val="accent3"/>
                </a:solidFill>
                <a:latin typeface="Cambria" pitchFamily="34" charset="0"/>
                <a:ea typeface="Cambria" pitchFamily="34" charset="-122"/>
                <a:cs typeface="Cambria" pitchFamily="34" charset="-120"/>
              </a:rPr>
              <a:t>26,707</a:t>
            </a:r>
            <a:endParaRPr lang="en-US" sz="3400" dirty="0"/>
          </a:p>
        </p:txBody>
      </p:sp>
      <p:sp>
        <p:nvSpPr>
          <p:cNvPr id="6" name="Stat respondents label"/>
          <p:cNvSpPr txBox="1"/>
          <p:nvPr/>
        </p:nvSpPr>
        <p:spPr>
          <a:xfrm>
            <a:off x="685800" y="3474720"/>
            <a:ext cx="1828800" cy="731520"/>
          </a:xfrm>
          <a:prstGeom prst="rect">
            <a:avLst/>
          </a:prstGeom>
          <a:noFill/>
          <a:ln/>
        </p:spPr>
        <p:txBody>
          <a:bodyPr wrap="square" lIns="0" tIns="0" rIns="0" bIns="0" rtlCol="0" anchor="t"/>
          <a:lstStyle/>
          <a:p>
            <a:pPr indent="0" marL="0">
              <a:buNone/>
            </a:pPr>
            <a:r>
              <a:rPr lang="en-US" sz="1600" dirty="0">
                <a:solidFill>
                  <a:schemeClr val="bg1"/>
                </a:solidFill>
              </a:rPr>
              <a:t>respondents</a:t>
            </a:r>
            <a:endParaRPr lang="en-US" sz="1600" dirty="0"/>
          </a:p>
        </p:txBody>
      </p:sp>
      <p:sp>
        <p:nvSpPr>
          <p:cNvPr id="7" name="Stat questions card"/>
          <p:cNvSpPr/>
          <p:nvPr/>
        </p:nvSpPr>
        <p:spPr>
          <a:xfrm>
            <a:off x="3017520" y="2286000"/>
            <a:ext cx="2286000" cy="2103120"/>
          </a:xfrm>
          <a:prstGeom prst="roundRect">
            <a:avLst>
              <a:gd name="adj" fmla="val 4348"/>
            </a:avLst>
          </a:prstGeom>
          <a:solidFill>
            <a:schemeClr val="bg1">
              <a:alpha val="12000"/>
            </a:schemeClr>
          </a:solidFill>
          <a:ln/>
        </p:spPr>
      </p:sp>
      <p:sp>
        <p:nvSpPr>
          <p:cNvPr id="8" name="Stat questions"/>
          <p:cNvSpPr txBox="1"/>
          <p:nvPr/>
        </p:nvSpPr>
        <p:spPr>
          <a:xfrm>
            <a:off x="3246120" y="2560320"/>
            <a:ext cx="1828800" cy="822960"/>
          </a:xfrm>
          <a:prstGeom prst="rect">
            <a:avLst/>
          </a:prstGeom>
          <a:noFill/>
          <a:ln/>
        </p:spPr>
        <p:txBody>
          <a:bodyPr wrap="square" lIns="0" tIns="0" rIns="0" bIns="0" rtlCol="0" anchor="ctr"/>
          <a:lstStyle/>
          <a:p>
            <a:pPr indent="0" marL="0">
              <a:buNone/>
            </a:pPr>
            <a:r>
              <a:rPr lang="en-US" sz="3400" b="1" dirty="0">
                <a:solidFill>
                  <a:schemeClr val="accent3"/>
                </a:solidFill>
                <a:latin typeface="Cambria" pitchFamily="34" charset="0"/>
                <a:ea typeface="Cambria" pitchFamily="34" charset="-122"/>
                <a:cs typeface="Cambria" pitchFamily="34" charset="-120"/>
              </a:rPr>
              <a:t>35</a:t>
            </a:r>
            <a:endParaRPr lang="en-US" sz="3400" dirty="0"/>
          </a:p>
        </p:txBody>
      </p:sp>
      <p:sp>
        <p:nvSpPr>
          <p:cNvPr id="9" name="Stat questions label"/>
          <p:cNvSpPr txBox="1"/>
          <p:nvPr/>
        </p:nvSpPr>
        <p:spPr>
          <a:xfrm>
            <a:off x="3246120" y="3474720"/>
            <a:ext cx="1828800" cy="731520"/>
          </a:xfrm>
          <a:prstGeom prst="rect">
            <a:avLst/>
          </a:prstGeom>
          <a:noFill/>
          <a:ln/>
        </p:spPr>
        <p:txBody>
          <a:bodyPr wrap="square" lIns="0" tIns="0" rIns="0" bIns="0" rtlCol="0" anchor="t"/>
          <a:lstStyle/>
          <a:p>
            <a:pPr indent="0" marL="0">
              <a:buNone/>
            </a:pPr>
            <a:r>
              <a:rPr lang="en-US" sz="1600" dirty="0">
                <a:solidFill>
                  <a:schemeClr val="bg1"/>
                </a:solidFill>
              </a:rPr>
              <a:t>survey questions</a:t>
            </a:r>
            <a:endParaRPr lang="en-US" sz="1600" dirty="0"/>
          </a:p>
        </p:txBody>
      </p:sp>
      <p:sp>
        <p:nvSpPr>
          <p:cNvPr id="10" name="Stat uptake card"/>
          <p:cNvSpPr/>
          <p:nvPr/>
        </p:nvSpPr>
        <p:spPr>
          <a:xfrm>
            <a:off x="5577840" y="2286000"/>
            <a:ext cx="3108960" cy="2103120"/>
          </a:xfrm>
          <a:prstGeom prst="roundRect">
            <a:avLst>
              <a:gd name="adj" fmla="val 4348"/>
            </a:avLst>
          </a:prstGeom>
          <a:solidFill>
            <a:schemeClr val="bg1">
              <a:alpha val="12000"/>
            </a:schemeClr>
          </a:solidFill>
          <a:ln/>
        </p:spPr>
      </p:sp>
      <p:sp>
        <p:nvSpPr>
          <p:cNvPr id="11" name="Stat uptake"/>
          <p:cNvSpPr txBox="1"/>
          <p:nvPr/>
        </p:nvSpPr>
        <p:spPr>
          <a:xfrm>
            <a:off x="5806440" y="2560320"/>
            <a:ext cx="2651760" cy="822960"/>
          </a:xfrm>
          <a:prstGeom prst="rect">
            <a:avLst/>
          </a:prstGeom>
          <a:noFill/>
          <a:ln/>
        </p:spPr>
        <p:txBody>
          <a:bodyPr wrap="square" lIns="0" tIns="0" rIns="0" bIns="0" rtlCol="0" anchor="ctr"/>
          <a:lstStyle/>
          <a:p>
            <a:pPr indent="0" marL="0">
              <a:buNone/>
            </a:pPr>
            <a:r>
              <a:rPr lang="en-US" sz="3400" b="1" dirty="0">
                <a:solidFill>
                  <a:schemeClr val="accent3"/>
                </a:solidFill>
                <a:latin typeface="Cambria" pitchFamily="34" charset="0"/>
                <a:ea typeface="Cambria" pitchFamily="34" charset="-122"/>
                <a:cs typeface="Cambria" pitchFamily="34" charset="-120"/>
              </a:rPr>
              <a:t>21% vs 47%</a:t>
            </a:r>
            <a:endParaRPr lang="en-US" sz="3400" dirty="0"/>
          </a:p>
        </p:txBody>
      </p:sp>
      <p:sp>
        <p:nvSpPr>
          <p:cNvPr id="12" name="Stat uptake label"/>
          <p:cNvSpPr txBox="1"/>
          <p:nvPr/>
        </p:nvSpPr>
        <p:spPr>
          <a:xfrm>
            <a:off x="5806440" y="3474720"/>
            <a:ext cx="2651760" cy="731520"/>
          </a:xfrm>
          <a:prstGeom prst="rect">
            <a:avLst/>
          </a:prstGeom>
          <a:noFill/>
          <a:ln/>
        </p:spPr>
        <p:txBody>
          <a:bodyPr wrap="square" lIns="0" tIns="0" rIns="0" bIns="0" rtlCol="0" anchor="t"/>
          <a:lstStyle/>
          <a:p>
            <a:pPr indent="0" marL="0">
              <a:buNone/>
            </a:pPr>
            <a:r>
              <a:rPr lang="en-US" sz="1600" dirty="0">
                <a:solidFill>
                  <a:schemeClr val="bg1"/>
                </a:solidFill>
              </a:rPr>
              <a:t>got the H1N1 vaccine vs the seasonal vaccine</a:t>
            </a:r>
            <a:endParaRPr lang="en-US" sz="1600" dirty="0"/>
          </a:p>
        </p:txBody>
      </p:sp>
      <p:sp>
        <p:nvSpPr>
          <p:cNvPr id="13" name="Source"/>
          <p:cNvSpPr txBox="1"/>
          <p:nvPr/>
        </p:nvSpPr>
        <p:spPr>
          <a:xfrm>
            <a:off x="457200" y="4754880"/>
            <a:ext cx="5486400" cy="274320"/>
          </a:xfrm>
          <a:prstGeom prst="rect">
            <a:avLst/>
          </a:prstGeom>
          <a:noFill/>
          <a:ln/>
        </p:spPr>
        <p:txBody>
          <a:bodyPr wrap="square" lIns="0" tIns="0" rIns="0" bIns="0" rtlCol="0" anchor="ctr"/>
          <a:lstStyle/>
          <a:p>
            <a:pPr indent="0" marL="0">
              <a:buNone/>
            </a:pPr>
            <a:r>
              <a:rPr lang="en-US" sz="1100" dirty="0">
                <a:solidFill>
                  <a:schemeClr val="bg2"/>
                </a:solidFill>
              </a:rPr>
              <a:t>Source: CDC 2009 H1N1 Flu Survey</a:t>
            </a:r>
            <a:endParaRPr lang="en-US" sz="11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rtlCol="0" anchor="ctr"/>
          <a:lstStyle/>
          <a:p>
            <a:pPr algn="l" indent="0" marL="0">
              <a:buNone/>
            </a:pPr>
            <a:r>
              <a:rPr lang="en-US" sz="3600" b="1" dirty="0">
                <a:solidFill>
                  <a:schemeClr val="tx2"/>
                </a:solidFill>
              </a:rPr>
              <a:t>What we found in the data</a:t>
            </a:r>
            <a:endParaRPr lang="en-US" sz="3600" dirty="0"/>
          </a:p>
        </p:txBody>
      </p:sp>
      <p:graphicFrame>
        <p:nvGraphicFramePr>
          <p:cNvPr id="3" name="Chart doctor recommendation" descr=""/>
          <p:cNvGraphicFramePr/>
          <p:nvPr/>
        </p:nvGraphicFramePr>
        <p:xfrm>
          <a:off x="457200" y="1234440"/>
          <a:ext cx="3931920" cy="3291840"/>
        </p:xfrm>
        <a:graphic xmlns:a="http://schemas.openxmlformats.org/drawingml/2006/main">
          <a:graphicData uri="http://schemas.openxmlformats.org/drawingml/2006/chart">
            <c:chart xmlns:c="http://schemas.openxmlformats.org/drawingml/2006/chart" r:id="rId1"/>
          </a:graphicData>
        </a:graphic>
      </p:graphicFrame>
      <p:sp>
        <p:nvSpPr>
          <p:cNvPr id="4" name="Findings"/>
          <p:cNvSpPr txBox="1"/>
          <p:nvPr/>
        </p:nvSpPr>
        <p:spPr>
          <a:xfrm>
            <a:off x="4663440" y="1234440"/>
            <a:ext cx="4023360" cy="3200400"/>
          </a:xfrm>
          <a:prstGeom prst="rect">
            <a:avLst/>
          </a:prstGeom>
          <a:noFill/>
          <a:ln/>
        </p:spPr>
        <p:txBody>
          <a:bodyPr wrap="square" lIns="0" tIns="0" rIns="0" bIns="0" rtlCol="0" anchor="t"/>
          <a:lstStyle/>
          <a:p>
            <a:pPr marL="342900" indent="-342900">
              <a:spcAft>
                <a:spcPts val="800"/>
              </a:spcAft>
              <a:buSzPct val="100000"/>
              <a:buChar char="•"/>
            </a:pPr>
            <a:r>
              <a:rPr lang="en-US" sz="1400" b="1" dirty="0">
                <a:solidFill>
                  <a:schemeClr val="tx1"/>
                </a:solidFill>
              </a:rPr>
              <a:t>Doctor's recommendation is the biggest factor: </a:t>
            </a:r>
            <a:pPr indent="0" marL="0">
              <a:spcAft>
                <a:spcPts val="800"/>
              </a:spcAft>
              <a:buNone/>
            </a:pPr>
            <a:r>
              <a:rPr lang="en-US" sz="1400" dirty="0">
                <a:solidFill>
                  <a:schemeClr val="tx1"/>
                </a:solidFill>
              </a:rPr>
              <a:t>H1N1 uptake is 53% with a recommendation and 14% without</a:t>
            </a:r>
            <a:endParaRPr lang="en-US" sz="1400" dirty="0"/>
          </a:p>
          <a:p>
            <a:pPr marL="342900" indent="-342900">
              <a:spcAft>
                <a:spcPts val="800"/>
              </a:spcAft>
              <a:buSzPct val="100000"/>
              <a:buChar char="•"/>
            </a:pPr>
            <a:r>
              <a:rPr lang="en-US" sz="1400" b="1" dirty="0">
                <a:solidFill>
                  <a:schemeClr val="tx1"/>
                </a:solidFill>
              </a:rPr>
              <a:t>Beliefs matter: </a:t>
            </a:r>
            <a:pPr indent="0" marL="0">
              <a:spcAft>
                <a:spcPts val="800"/>
              </a:spcAft>
              <a:buNone/>
            </a:pPr>
            <a:r>
              <a:rPr lang="en-US" sz="1400" dirty="0">
                <a:solidFill>
                  <a:schemeClr val="tx1"/>
                </a:solidFill>
              </a:rPr>
              <a:t>H1N1 uptake rises from 5% for "not effective" to 40% for "very effective"</a:t>
            </a:r>
            <a:endParaRPr lang="en-US" sz="1400" dirty="0"/>
          </a:p>
          <a:p>
            <a:pPr marL="342900" indent="-342900">
              <a:spcAft>
                <a:spcPts val="800"/>
              </a:spcAft>
              <a:buSzPct val="100000"/>
              <a:buChar char="•"/>
            </a:pPr>
            <a:r>
              <a:rPr lang="en-US" sz="1400" b="1" dirty="0">
                <a:solidFill>
                  <a:schemeClr val="tx1"/>
                </a:solidFill>
              </a:rPr>
              <a:t>Age matters for seasonal flu only: </a:t>
            </a:r>
            <a:pPr indent="0" marL="0">
              <a:spcAft>
                <a:spcPts val="800"/>
              </a:spcAft>
              <a:buNone/>
            </a:pPr>
            <a:r>
              <a:rPr lang="en-US" sz="1400" dirty="0">
                <a:solidFill>
                  <a:schemeClr val="tx1"/>
                </a:solidFill>
              </a:rPr>
              <a:t>28% for ages 18-34 and 67% for 65+. For H1N1 it stays around 19-24%</a:t>
            </a:r>
            <a:endParaRPr lang="en-US" sz="1400" dirty="0"/>
          </a:p>
          <a:p>
            <a:pPr marL="342900" indent="-342900">
              <a:spcAft>
                <a:spcPts val="800"/>
              </a:spcAft>
              <a:buSzPct val="100000"/>
              <a:buChar char="•"/>
            </a:pPr>
            <a:r>
              <a:rPr lang="en-US" sz="1400" b="1" dirty="0">
                <a:solidFill>
                  <a:schemeClr val="tx1"/>
                </a:solidFill>
              </a:rPr>
              <a:t>The two vaccines go together: </a:t>
            </a:r>
            <a:pPr indent="0" marL="0">
              <a:spcAft>
                <a:spcPts val="800"/>
              </a:spcAft>
              <a:buNone/>
            </a:pPr>
            <a:r>
              <a:rPr lang="en-US" sz="1400" dirty="0">
                <a:solidFill>
                  <a:schemeClr val="tx1"/>
                </a:solidFill>
              </a:rPr>
              <a:t>38% of seasonal-vaccine takers also got the H1N1 vaccine, against 7% of the others</a:t>
            </a:r>
            <a:endParaRPr lang="en-US" sz="1400" dirty="0"/>
          </a:p>
        </p:txBody>
      </p:sp>
      <p:sp>
        <p:nvSpPr>
          <p:cNvPr id="5" name="Caveat"/>
          <p:cNvSpPr txBox="1"/>
          <p:nvPr/>
        </p:nvSpPr>
        <p:spPr>
          <a:xfrm>
            <a:off x="4663440" y="4434840"/>
            <a:ext cx="4023360" cy="274320"/>
          </a:xfrm>
          <a:prstGeom prst="rect">
            <a:avLst/>
          </a:prstGeom>
          <a:noFill/>
          <a:ln/>
        </p:spPr>
        <p:txBody>
          <a:bodyPr wrap="square" lIns="0" tIns="0" rIns="0" bIns="0" rtlCol="0" anchor="ctr"/>
          <a:lstStyle/>
          <a:p>
            <a:pPr indent="0" marL="0">
              <a:buNone/>
            </a:pPr>
            <a:r>
              <a:rPr lang="en-US" sz="1200" i="1" dirty="0">
                <a:solidFill>
                  <a:schemeClr val="accent5"/>
                </a:solidFill>
              </a:rPr>
              <a:t>These are associations, not proof of cause.</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rtlCol="0" anchor="ctr"/>
          <a:lstStyle/>
          <a:p>
            <a:pPr algn="l" indent="0" marL="0">
              <a:buNone/>
            </a:pPr>
            <a:r>
              <a:rPr lang="en-US" sz="3600" b="1" dirty="0">
                <a:solidFill>
                  <a:schemeClr val="tx2"/>
                </a:solidFill>
              </a:rPr>
              <a:t>Cleaning the data</a:t>
            </a:r>
            <a:endParaRPr lang="en-US" sz="3600" dirty="0"/>
          </a:p>
        </p:txBody>
      </p:sp>
      <p:sp>
        <p:nvSpPr>
          <p:cNvPr id="3" name="Missing insurance card"/>
          <p:cNvSpPr/>
          <p:nvPr/>
        </p:nvSpPr>
        <p:spPr>
          <a:xfrm>
            <a:off x="457200" y="1234440"/>
            <a:ext cx="3931920" cy="2103120"/>
          </a:xfrm>
          <a:prstGeom prst="roundRect">
            <a:avLst>
              <a:gd name="adj" fmla="val 4348"/>
            </a:avLst>
          </a:prstGeom>
          <a:solidFill>
            <a:schemeClr val="bg2"/>
          </a:solidFill>
          <a:ln/>
        </p:spPr>
      </p:sp>
      <p:sp>
        <p:nvSpPr>
          <p:cNvPr id="4" name="Card heading"/>
          <p:cNvSpPr txBox="1"/>
          <p:nvPr/>
        </p:nvSpPr>
        <p:spPr>
          <a:xfrm>
            <a:off x="685800" y="1371600"/>
            <a:ext cx="3474720" cy="365760"/>
          </a:xfrm>
          <a:prstGeom prst="rect">
            <a:avLst/>
          </a:prstGeom>
          <a:noFill/>
          <a:ln/>
        </p:spPr>
        <p:txBody>
          <a:bodyPr wrap="square" lIns="0" tIns="0" rIns="0" bIns="0" rtlCol="0" anchor="ctr"/>
          <a:lstStyle/>
          <a:p>
            <a:pPr indent="0" marL="0">
              <a:buNone/>
            </a:pPr>
            <a:r>
              <a:rPr lang="en-US" sz="1400" b="1" dirty="0">
                <a:solidFill>
                  <a:schemeClr val="tx2"/>
                </a:solidFill>
              </a:rPr>
              <a:t>health_insurance: 46% of answers missing</a:t>
            </a:r>
            <a:endParaRPr lang="en-US" sz="1400" dirty="0"/>
          </a:p>
        </p:txBody>
      </p:sp>
      <p:sp>
        <p:nvSpPr>
          <p:cNvPr id="5" name="Uptake 0"/>
          <p:cNvSpPr txBox="1"/>
          <p:nvPr/>
        </p:nvSpPr>
        <p:spPr>
          <a:xfrm>
            <a:off x="685800" y="1874520"/>
            <a:ext cx="1645920" cy="731520"/>
          </a:xfrm>
          <a:prstGeom prst="rect">
            <a:avLst/>
          </a:prstGeom>
          <a:noFill/>
          <a:ln/>
        </p:spPr>
        <p:txBody>
          <a:bodyPr wrap="square" lIns="0" tIns="0" rIns="0" bIns="0" rtlCol="0" anchor="ctr"/>
          <a:lstStyle/>
          <a:p>
            <a:pPr indent="0" marL="0">
              <a:buNone/>
            </a:pPr>
            <a:r>
              <a:rPr lang="en-US" sz="4400" b="1" dirty="0">
                <a:solidFill>
                  <a:schemeClr val="accent2"/>
                </a:solidFill>
                <a:latin typeface="Cambria" pitchFamily="34" charset="0"/>
                <a:ea typeface="Cambria" pitchFamily="34" charset="-122"/>
                <a:cs typeface="Cambria" pitchFamily="34" charset="-120"/>
              </a:rPr>
              <a:t>11%</a:t>
            </a:r>
            <a:endParaRPr lang="en-US" sz="4400" dirty="0"/>
          </a:p>
        </p:txBody>
      </p:sp>
      <p:sp>
        <p:nvSpPr>
          <p:cNvPr id="6" name="Uptake label 0"/>
          <p:cNvSpPr txBox="1"/>
          <p:nvPr/>
        </p:nvSpPr>
        <p:spPr>
          <a:xfrm>
            <a:off x="685800" y="2651760"/>
            <a:ext cx="1645920" cy="548640"/>
          </a:xfrm>
          <a:prstGeom prst="rect">
            <a:avLst/>
          </a:prstGeom>
          <a:noFill/>
          <a:ln/>
        </p:spPr>
        <p:txBody>
          <a:bodyPr wrap="square" lIns="0" tIns="0" rIns="0" bIns="0" rtlCol="0" anchor="t"/>
          <a:lstStyle/>
          <a:p>
            <a:pPr indent="0" marL="0">
              <a:buNone/>
            </a:pPr>
            <a:r>
              <a:rPr lang="en-US" sz="1400" dirty="0">
                <a:solidFill>
                  <a:schemeClr val="tx1"/>
                </a:solidFill>
              </a:rPr>
              <a:t>H1N1 uptake if skipped</a:t>
            </a:r>
            <a:endParaRPr lang="en-US" sz="1400" dirty="0"/>
          </a:p>
        </p:txBody>
      </p:sp>
      <p:sp>
        <p:nvSpPr>
          <p:cNvPr id="7" name="Uptake 1"/>
          <p:cNvSpPr txBox="1"/>
          <p:nvPr/>
        </p:nvSpPr>
        <p:spPr>
          <a:xfrm>
            <a:off x="2606040" y="1874520"/>
            <a:ext cx="1645920" cy="73152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30%</a:t>
            </a:r>
            <a:endParaRPr lang="en-US" sz="4400" dirty="0"/>
          </a:p>
        </p:txBody>
      </p:sp>
      <p:sp>
        <p:nvSpPr>
          <p:cNvPr id="8" name="Uptake label 1"/>
          <p:cNvSpPr txBox="1"/>
          <p:nvPr/>
        </p:nvSpPr>
        <p:spPr>
          <a:xfrm>
            <a:off x="2606040" y="2651760"/>
            <a:ext cx="1645920" cy="548640"/>
          </a:xfrm>
          <a:prstGeom prst="rect">
            <a:avLst/>
          </a:prstGeom>
          <a:noFill/>
          <a:ln/>
        </p:spPr>
        <p:txBody>
          <a:bodyPr wrap="square" lIns="0" tIns="0" rIns="0" bIns="0" rtlCol="0" anchor="t"/>
          <a:lstStyle/>
          <a:p>
            <a:pPr indent="0" marL="0">
              <a:buNone/>
            </a:pPr>
            <a:r>
              <a:rPr lang="en-US" sz="1400" dirty="0">
                <a:solidFill>
                  <a:schemeClr val="tx1"/>
                </a:solidFill>
              </a:rPr>
              <a:t>H1N1 uptake if answered</a:t>
            </a:r>
            <a:endParaRPr lang="en-US" sz="1400" dirty="0"/>
          </a:p>
        </p:txBody>
      </p:sp>
      <p:sp>
        <p:nvSpPr>
          <p:cNvPr id="9" name="Cleaning bullets"/>
          <p:cNvSpPr txBox="1"/>
          <p:nvPr/>
        </p:nvSpPr>
        <p:spPr>
          <a:xfrm>
            <a:off x="4663440" y="1234440"/>
            <a:ext cx="4023360" cy="21945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Missing answers carry information, so we added a flag column instead of guessing a value</a:t>
            </a:r>
            <a:endParaRPr lang="en-US" sz="1400" dirty="0"/>
          </a:p>
          <a:p>
            <a:pPr marL="342900" indent="-342900">
              <a:spcAft>
                <a:spcPts val="800"/>
              </a:spcAft>
              <a:buSzPct val="100000"/>
              <a:buChar char="•"/>
            </a:pPr>
            <a:r>
              <a:rPr lang="en-US" sz="1400" dirty="0">
                <a:solidFill>
                  <a:schemeClr val="tx1"/>
                </a:solidFill>
              </a:rPr>
              <a:t>Small job codes can still be very different (one group has 62% uptake), so we only merged tiny ones</a:t>
            </a:r>
            <a:endParaRPr lang="en-US" sz="1400" dirty="0"/>
          </a:p>
          <a:p>
            <a:pPr marL="342900" indent="-342900">
              <a:spcAft>
                <a:spcPts val="800"/>
              </a:spcAft>
              <a:buSzPct val="100000"/>
              <a:buChar char="•"/>
            </a:pPr>
            <a:r>
              <a:rPr lang="en-US" sz="1400" dirty="0">
                <a:solidFill>
                  <a:schemeClr val="tx1"/>
                </a:solidFill>
              </a:rPr>
              <a:t>Same rules on the test data, using only values learned from the training set, so there is no leakage</a:t>
            </a:r>
            <a:endParaRPr lang="en-US" sz="1400" dirty="0"/>
          </a:p>
        </p:txBody>
      </p:sp>
      <p:sp>
        <p:nvSpPr>
          <p:cNvPr id="10" name="Result card"/>
          <p:cNvSpPr/>
          <p:nvPr/>
        </p:nvSpPr>
        <p:spPr>
          <a:xfrm>
            <a:off x="457200" y="3611880"/>
            <a:ext cx="8229600" cy="914400"/>
          </a:xfrm>
          <a:prstGeom prst="roundRect">
            <a:avLst>
              <a:gd name="adj" fmla="val 10000"/>
            </a:avLst>
          </a:prstGeom>
          <a:solidFill>
            <a:schemeClr val="bg2"/>
          </a:solidFill>
          <a:ln/>
        </p:spPr>
      </p:sp>
      <p:sp>
        <p:nvSpPr>
          <p:cNvPr id="11" name="Result label"/>
          <p:cNvSpPr txBox="1"/>
          <p:nvPr/>
        </p:nvSpPr>
        <p:spPr>
          <a:xfrm>
            <a:off x="731520" y="3611880"/>
            <a:ext cx="3931920" cy="914400"/>
          </a:xfrm>
          <a:prstGeom prst="rect">
            <a:avLst/>
          </a:prstGeom>
          <a:noFill/>
          <a:ln/>
        </p:spPr>
        <p:txBody>
          <a:bodyPr wrap="square" lIns="0" tIns="0" rIns="0" bIns="0" rtlCol="0" anchor="ctr"/>
          <a:lstStyle/>
          <a:p>
            <a:pPr indent="0" marL="0">
              <a:buNone/>
            </a:pPr>
            <a:r>
              <a:rPr lang="en-US" sz="1600" dirty="0">
                <a:solidFill>
                  <a:schemeClr val="tx1"/>
                </a:solidFill>
              </a:rPr>
              <a:t>H1N1 model score (ROC AUC, simple model)</a:t>
            </a:r>
            <a:endParaRPr lang="en-US" sz="1600" dirty="0"/>
          </a:p>
        </p:txBody>
      </p:sp>
      <p:sp>
        <p:nvSpPr>
          <p:cNvPr id="12" name="Result values"/>
          <p:cNvSpPr txBox="1"/>
          <p:nvPr/>
        </p:nvSpPr>
        <p:spPr>
          <a:xfrm>
            <a:off x="4754880" y="3611880"/>
            <a:ext cx="3657600" cy="914400"/>
          </a:xfrm>
          <a:prstGeom prst="rect">
            <a:avLst/>
          </a:prstGeom>
          <a:noFill/>
          <a:ln/>
        </p:spPr>
        <p:txBody>
          <a:bodyPr wrap="square" lIns="0" tIns="0" rIns="0" bIns="0" rtlCol="0" anchor="ctr"/>
          <a:lstStyle/>
          <a:p>
            <a:pPr algn="r" indent="0" marL="0">
              <a:buNone/>
            </a:pPr>
            <a:r>
              <a:rPr lang="en-US" sz="3600" b="1" dirty="0">
                <a:solidFill>
                  <a:schemeClr val="accent5"/>
                </a:solidFill>
                <a:latin typeface="Cambria" pitchFamily="34" charset="0"/>
                <a:ea typeface="Cambria" pitchFamily="34" charset="-122"/>
                <a:cs typeface="Cambria" pitchFamily="34" charset="-120"/>
              </a:rPr>
              <a:t>0.834</a:t>
            </a:r>
            <a:pPr algn="r" indent="0" marL="0">
              <a:buNone/>
            </a:pPr>
            <a:r>
              <a:rPr lang="en-US" sz="3600" b="1" dirty="0">
                <a:solidFill>
                  <a:schemeClr val="tx1"/>
                </a:solidFill>
                <a:latin typeface="Cambria" pitchFamily="34" charset="0"/>
                <a:ea typeface="Cambria" pitchFamily="34" charset="-122"/>
                <a:cs typeface="Cambria" pitchFamily="34" charset="-120"/>
              </a:rPr>
              <a:t>  →  </a:t>
            </a:r>
            <a:pPr algn="r" indent="0" marL="0">
              <a:buNone/>
            </a:pPr>
            <a:r>
              <a:rPr lang="en-US" sz="3600" b="1" dirty="0">
                <a:solidFill>
                  <a:schemeClr val="accent1"/>
                </a:solidFill>
                <a:latin typeface="Cambria" pitchFamily="34" charset="0"/>
                <a:ea typeface="Cambria" pitchFamily="34" charset="-122"/>
                <a:cs typeface="Cambria" pitchFamily="34" charset="-120"/>
              </a:rPr>
              <a:t>0.861</a:t>
            </a:r>
            <a:endParaRPr lang="en-US" sz="3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rtlCol="0" anchor="ctr"/>
          <a:lstStyle/>
          <a:p>
            <a:pPr algn="l" indent="0" marL="0">
              <a:buNone/>
            </a:pPr>
            <a:r>
              <a:rPr lang="en-US" sz="3600" b="1" dirty="0">
                <a:solidFill>
                  <a:schemeClr val="tx2"/>
                </a:solidFill>
              </a:rPr>
              <a:t>How we worked together</a:t>
            </a:r>
            <a:endParaRPr lang="en-US" sz="3600" dirty="0"/>
          </a:p>
        </p:txBody>
      </p:sp>
      <p:sp>
        <p:nvSpPr>
          <p:cNvPr id="3" name="Step card 1"/>
          <p:cNvSpPr/>
          <p:nvPr/>
        </p:nvSpPr>
        <p:spPr>
          <a:xfrm>
            <a:off x="457200" y="1371600"/>
            <a:ext cx="2560320" cy="2926080"/>
          </a:xfrm>
          <a:prstGeom prst="roundRect">
            <a:avLst>
              <a:gd name="adj" fmla="val 3571"/>
            </a:avLst>
          </a:prstGeom>
          <a:solidFill>
            <a:schemeClr val="bg2"/>
          </a:solidFill>
          <a:ln/>
        </p:spPr>
      </p:sp>
      <p:sp>
        <p:nvSpPr>
          <p:cNvPr id="4" name="Step number 1"/>
          <p:cNvSpPr/>
          <p:nvPr/>
        </p:nvSpPr>
        <p:spPr>
          <a:xfrm>
            <a:off x="731520" y="1645920"/>
            <a:ext cx="640080" cy="640080"/>
          </a:xfrm>
          <a:prstGeom prst="ellipse">
            <a:avLst/>
          </a:prstGeom>
          <a:solidFill>
            <a:schemeClr val="accent1"/>
          </a:solidFill>
          <a:ln/>
        </p:spPr>
      </p:sp>
      <p:sp>
        <p:nvSpPr>
          <p:cNvPr id="5" name="Step digit 1"/>
          <p:cNvSpPr txBox="1"/>
          <p:nvPr/>
        </p:nvSpPr>
        <p:spPr>
          <a:xfrm>
            <a:off x="731520" y="164592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6" name="Step heading 1"/>
          <p:cNvSpPr txBox="1"/>
          <p:nvPr/>
        </p:nvSpPr>
        <p:spPr>
          <a:xfrm>
            <a:off x="731520" y="2423160"/>
            <a:ext cx="2011680" cy="77724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Cleaned separately</a:t>
            </a:r>
            <a:endParaRPr lang="en-US" sz="2000" dirty="0"/>
          </a:p>
        </p:txBody>
      </p:sp>
      <p:sp>
        <p:nvSpPr>
          <p:cNvPr id="7" name="Step text 1"/>
          <p:cNvSpPr txBox="1"/>
          <p:nvPr/>
        </p:nvSpPr>
        <p:spPr>
          <a:xfrm>
            <a:off x="731520" y="3291840"/>
            <a:ext cx="2011680" cy="914400"/>
          </a:xfrm>
          <a:prstGeom prst="rect">
            <a:avLst/>
          </a:prstGeom>
          <a:noFill/>
          <a:ln/>
        </p:spPr>
        <p:txBody>
          <a:bodyPr wrap="square" lIns="0" tIns="0" rIns="0" bIns="0" rtlCol="0" anchor="t"/>
          <a:lstStyle/>
          <a:p>
            <a:pPr indent="0" marL="0">
              <a:buNone/>
            </a:pPr>
            <a:r>
              <a:rPr lang="en-US" sz="1400" dirty="0">
                <a:solidFill>
                  <a:schemeClr val="tx1"/>
                </a:solidFill>
              </a:rPr>
              <a:t>Each of us wrote our own cleaning notebook</a:t>
            </a:r>
            <a:endParaRPr lang="en-US" sz="1400" dirty="0"/>
          </a:p>
        </p:txBody>
      </p:sp>
      <p:sp>
        <p:nvSpPr>
          <p:cNvPr id="8" name="Step card 2"/>
          <p:cNvSpPr/>
          <p:nvPr/>
        </p:nvSpPr>
        <p:spPr>
          <a:xfrm>
            <a:off x="3291840" y="1371600"/>
            <a:ext cx="2560320" cy="2926080"/>
          </a:xfrm>
          <a:prstGeom prst="roundRect">
            <a:avLst>
              <a:gd name="adj" fmla="val 3571"/>
            </a:avLst>
          </a:prstGeom>
          <a:solidFill>
            <a:schemeClr val="bg2"/>
          </a:solidFill>
          <a:ln/>
        </p:spPr>
      </p:sp>
      <p:sp>
        <p:nvSpPr>
          <p:cNvPr id="9" name="Step number 2"/>
          <p:cNvSpPr/>
          <p:nvPr/>
        </p:nvSpPr>
        <p:spPr>
          <a:xfrm>
            <a:off x="3566160" y="1645920"/>
            <a:ext cx="640080" cy="640080"/>
          </a:xfrm>
          <a:prstGeom prst="ellipse">
            <a:avLst/>
          </a:prstGeom>
          <a:solidFill>
            <a:schemeClr val="accent1"/>
          </a:solidFill>
          <a:ln/>
        </p:spPr>
      </p:sp>
      <p:sp>
        <p:nvSpPr>
          <p:cNvPr id="10" name="Step digit 2"/>
          <p:cNvSpPr txBox="1"/>
          <p:nvPr/>
        </p:nvSpPr>
        <p:spPr>
          <a:xfrm>
            <a:off x="3566160" y="164592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11" name="Step heading 2"/>
          <p:cNvSpPr txBox="1"/>
          <p:nvPr/>
        </p:nvSpPr>
        <p:spPr>
          <a:xfrm>
            <a:off x="3566160" y="2423160"/>
            <a:ext cx="2011680" cy="77724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Merged into one module</a:t>
            </a:r>
            <a:endParaRPr lang="en-US" sz="2000" dirty="0"/>
          </a:p>
        </p:txBody>
      </p:sp>
      <p:sp>
        <p:nvSpPr>
          <p:cNvPr id="12" name="Step text 2"/>
          <p:cNvSpPr txBox="1"/>
          <p:nvPr/>
        </p:nvSpPr>
        <p:spPr>
          <a:xfrm>
            <a:off x="3566160" y="3291840"/>
            <a:ext cx="2011680" cy="914400"/>
          </a:xfrm>
          <a:prstGeom prst="rect">
            <a:avLst/>
          </a:prstGeom>
          <a:noFill/>
          <a:ln/>
        </p:spPr>
        <p:txBody>
          <a:bodyPr wrap="square" lIns="0" tIns="0" rIns="0" bIns="0" rtlCol="0" anchor="t"/>
          <a:lstStyle/>
          <a:p>
            <a:pPr indent="0" marL="0">
              <a:buNone/>
            </a:pPr>
            <a:r>
              <a:rPr lang="en-US" sz="1400" dirty="0">
                <a:solidFill>
                  <a:schemeClr val="tx1"/>
                </a:solidFill>
              </a:rPr>
              <a:t>Both versions scored the same, so we kept the best parts of each in src/cleaning.py</a:t>
            </a:r>
            <a:endParaRPr lang="en-US" sz="1400" dirty="0"/>
          </a:p>
        </p:txBody>
      </p:sp>
      <p:sp>
        <p:nvSpPr>
          <p:cNvPr id="13" name="Step card 3"/>
          <p:cNvSpPr/>
          <p:nvPr/>
        </p:nvSpPr>
        <p:spPr>
          <a:xfrm>
            <a:off x="6126480" y="1371600"/>
            <a:ext cx="2560320" cy="2926080"/>
          </a:xfrm>
          <a:prstGeom prst="roundRect">
            <a:avLst>
              <a:gd name="adj" fmla="val 3571"/>
            </a:avLst>
          </a:prstGeom>
          <a:solidFill>
            <a:schemeClr val="bg2"/>
          </a:solidFill>
          <a:ln/>
        </p:spPr>
      </p:sp>
      <p:sp>
        <p:nvSpPr>
          <p:cNvPr id="14" name="Step number 3"/>
          <p:cNvSpPr/>
          <p:nvPr/>
        </p:nvSpPr>
        <p:spPr>
          <a:xfrm>
            <a:off x="6400800" y="1645920"/>
            <a:ext cx="640080" cy="640080"/>
          </a:xfrm>
          <a:prstGeom prst="ellipse">
            <a:avLst/>
          </a:prstGeom>
          <a:solidFill>
            <a:schemeClr val="accent1"/>
          </a:solidFill>
          <a:ln/>
        </p:spPr>
      </p:sp>
      <p:sp>
        <p:nvSpPr>
          <p:cNvPr id="15" name="Step digit 3"/>
          <p:cNvSpPr txBox="1"/>
          <p:nvPr/>
        </p:nvSpPr>
        <p:spPr>
          <a:xfrm>
            <a:off x="6400800" y="164592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16" name="Step heading 3"/>
          <p:cNvSpPr txBox="1"/>
          <p:nvPr/>
        </p:nvSpPr>
        <p:spPr>
          <a:xfrm>
            <a:off x="6400800" y="2423160"/>
            <a:ext cx="2011680" cy="77724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Reviewed on GitHub</a:t>
            </a:r>
            <a:endParaRPr lang="en-US" sz="2000" dirty="0"/>
          </a:p>
        </p:txBody>
      </p:sp>
      <p:sp>
        <p:nvSpPr>
          <p:cNvPr id="17" name="Step text 3"/>
          <p:cNvSpPr txBox="1"/>
          <p:nvPr/>
        </p:nvSpPr>
        <p:spPr>
          <a:xfrm>
            <a:off x="6400800" y="3291840"/>
            <a:ext cx="2011680" cy="914400"/>
          </a:xfrm>
          <a:prstGeom prst="rect">
            <a:avLst/>
          </a:prstGeom>
          <a:noFill/>
          <a:ln/>
        </p:spPr>
        <p:txBody>
          <a:bodyPr wrap="square" lIns="0" tIns="0" rIns="0" bIns="0" rtlCol="0" anchor="t"/>
          <a:lstStyle/>
          <a:p>
            <a:pPr indent="0" marL="0">
              <a:buNone/>
            </a:pPr>
            <a:r>
              <a:rPr lang="en-US" sz="1400" dirty="0">
                <a:solidFill>
                  <a:schemeClr val="tx1"/>
                </a:solidFill>
              </a:rPr>
              <a:t>Feature branches, pull requests, review by the other person, issues for tickets</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rtlCol="0" anchor="ctr"/>
          <a:lstStyle/>
          <a:p>
            <a:pPr algn="l" indent="0" marL="0">
              <a:buNone/>
            </a:pPr>
            <a:r>
              <a:rPr lang="en-US" sz="3600" b="1" dirty="0">
                <a:solidFill>
                  <a:schemeClr val="bg1"/>
                </a:solidFill>
              </a:rPr>
              <a:t>Limits and next steps</a:t>
            </a:r>
            <a:endParaRPr lang="en-US" sz="3600" dirty="0"/>
          </a:p>
        </p:txBody>
      </p:sp>
      <p:sp>
        <p:nvSpPr>
          <p:cNvPr id="3" name="Limits card"/>
          <p:cNvSpPr/>
          <p:nvPr/>
        </p:nvSpPr>
        <p:spPr>
          <a:xfrm>
            <a:off x="457200" y="1280160"/>
            <a:ext cx="3931920" cy="3108960"/>
          </a:xfrm>
          <a:prstGeom prst="roundRect">
            <a:avLst>
              <a:gd name="adj" fmla="val 2941"/>
            </a:avLst>
          </a:prstGeom>
          <a:solidFill>
            <a:schemeClr val="bg1">
              <a:alpha val="12000"/>
            </a:schemeClr>
          </a:solidFill>
          <a:ln/>
        </p:spPr>
      </p:sp>
      <p:sp>
        <p:nvSpPr>
          <p:cNvPr id="4" name="Limits heading"/>
          <p:cNvSpPr txBox="1"/>
          <p:nvPr/>
        </p:nvSpPr>
        <p:spPr>
          <a:xfrm>
            <a:off x="731520" y="1463040"/>
            <a:ext cx="3383280" cy="365760"/>
          </a:xfrm>
          <a:prstGeom prst="rect">
            <a:avLst/>
          </a:prstGeom>
          <a:noFill/>
          <a:ln/>
        </p:spPr>
        <p:txBody>
          <a:bodyPr wrap="square" lIns="0" tIns="0" rIns="0" bIns="0" rtlCol="0" anchor="ctr"/>
          <a:lstStyle/>
          <a:p>
            <a:pPr indent="0" marL="0">
              <a:buNone/>
            </a:pPr>
            <a:r>
              <a:rPr lang="en-US" sz="2000" b="1" dirty="0">
                <a:solidFill>
                  <a:schemeClr val="accent3"/>
                </a:solidFill>
                <a:latin typeface="Cambria" pitchFamily="34" charset="0"/>
                <a:ea typeface="Cambria" pitchFamily="34" charset="-122"/>
                <a:cs typeface="Cambria" pitchFamily="34" charset="-120"/>
              </a:rPr>
              <a:t>Limits</a:t>
            </a:r>
            <a:endParaRPr lang="en-US" sz="2000" dirty="0"/>
          </a:p>
        </p:txBody>
      </p:sp>
      <p:sp>
        <p:nvSpPr>
          <p:cNvPr id="5" name="Limits list"/>
          <p:cNvSpPr txBox="1"/>
          <p:nvPr/>
        </p:nvSpPr>
        <p:spPr>
          <a:xfrm>
            <a:off x="731520" y="2011680"/>
            <a:ext cx="3383280" cy="21031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bg1"/>
                </a:solidFill>
              </a:rPr>
              <a:t>Associations, not causes</a:t>
            </a:r>
            <a:endParaRPr lang="en-US" sz="1600" dirty="0"/>
          </a:p>
          <a:p>
            <a:pPr marL="342900" indent="-342900">
              <a:spcAft>
                <a:spcPts val="1000"/>
              </a:spcAft>
              <a:buSzPct val="100000"/>
              <a:buChar char="•"/>
            </a:pPr>
            <a:r>
              <a:rPr lang="en-US" sz="1600" dirty="0">
                <a:solidFill>
                  <a:schemeClr val="bg1"/>
                </a:solidFill>
              </a:rPr>
              <a:t>Self-reported survey from 2009-2010</a:t>
            </a:r>
            <a:endParaRPr lang="en-US" sz="1600" dirty="0"/>
          </a:p>
          <a:p>
            <a:pPr marL="342900" indent="-342900">
              <a:spcAft>
                <a:spcPts val="1000"/>
              </a:spcAft>
              <a:buSzPct val="100000"/>
              <a:buChar char="•"/>
            </a:pPr>
            <a:r>
              <a:rPr lang="en-US" sz="1600" dirty="0">
                <a:solidFill>
                  <a:schemeClr val="bg1"/>
                </a:solidFill>
              </a:rPr>
              <a:t>Missing data is not random</a:t>
            </a:r>
            <a:endParaRPr lang="en-US" sz="1600" dirty="0"/>
          </a:p>
        </p:txBody>
      </p:sp>
      <p:sp>
        <p:nvSpPr>
          <p:cNvPr id="6" name="Sprint 2 card"/>
          <p:cNvSpPr/>
          <p:nvPr/>
        </p:nvSpPr>
        <p:spPr>
          <a:xfrm>
            <a:off x="4663440" y="1280160"/>
            <a:ext cx="4023360" cy="1508760"/>
          </a:xfrm>
          <a:prstGeom prst="roundRect">
            <a:avLst>
              <a:gd name="adj" fmla="val 6061"/>
            </a:avLst>
          </a:prstGeom>
          <a:solidFill>
            <a:schemeClr val="bg1">
              <a:alpha val="12000"/>
            </a:schemeClr>
          </a:solidFill>
          <a:ln/>
        </p:spPr>
      </p:sp>
      <p:sp>
        <p:nvSpPr>
          <p:cNvPr id="7" name="Sprint 2 heading"/>
          <p:cNvSpPr txBox="1"/>
          <p:nvPr/>
        </p:nvSpPr>
        <p:spPr>
          <a:xfrm>
            <a:off x="4937760" y="1417320"/>
            <a:ext cx="3474720" cy="365760"/>
          </a:xfrm>
          <a:prstGeom prst="rect">
            <a:avLst/>
          </a:prstGeom>
          <a:noFill/>
          <a:ln/>
        </p:spPr>
        <p:txBody>
          <a:bodyPr wrap="square" lIns="0" tIns="0" rIns="0" bIns="0" rtlCol="0" anchor="ctr"/>
          <a:lstStyle/>
          <a:p>
            <a:pPr indent="0" marL="0">
              <a:buNone/>
            </a:pPr>
            <a:r>
              <a:rPr lang="en-US" sz="2000" b="1" dirty="0">
                <a:solidFill>
                  <a:schemeClr val="accent3"/>
                </a:solidFill>
                <a:latin typeface="Cambria" pitchFamily="34" charset="0"/>
                <a:ea typeface="Cambria" pitchFamily="34" charset="-122"/>
                <a:cs typeface="Cambria" pitchFamily="34" charset="-120"/>
              </a:rPr>
              <a:t>Sprint 2</a:t>
            </a:r>
            <a:endParaRPr lang="en-US" sz="2000" dirty="0"/>
          </a:p>
        </p:txBody>
      </p:sp>
      <p:sp>
        <p:nvSpPr>
          <p:cNvPr id="8" name="Sprint 2 text"/>
          <p:cNvSpPr txBox="1"/>
          <p:nvPr/>
        </p:nvSpPr>
        <p:spPr>
          <a:xfrm>
            <a:off x="4937760" y="1828800"/>
            <a:ext cx="3474720" cy="868680"/>
          </a:xfrm>
          <a:prstGeom prst="rect">
            <a:avLst/>
          </a:prstGeom>
          <a:noFill/>
          <a:ln/>
        </p:spPr>
        <p:txBody>
          <a:bodyPr wrap="square" lIns="0" tIns="0" rIns="0" bIns="0" rtlCol="0" anchor="t"/>
          <a:lstStyle/>
          <a:p>
            <a:pPr indent="0" marL="0">
              <a:buNone/>
            </a:pPr>
            <a:r>
              <a:rPr lang="en-US" sz="1400" dirty="0">
                <a:solidFill>
                  <a:schemeClr val="bg1"/>
                </a:solidFill>
              </a:rPr>
              <a:t>Feature engineering; logistic regression, random forest and gradient boosting; ROC AUC with cross-validation</a:t>
            </a:r>
            <a:endParaRPr lang="en-US" sz="1400" dirty="0"/>
          </a:p>
        </p:txBody>
      </p:sp>
      <p:sp>
        <p:nvSpPr>
          <p:cNvPr id="9" name="Sprint 3 card"/>
          <p:cNvSpPr/>
          <p:nvPr/>
        </p:nvSpPr>
        <p:spPr>
          <a:xfrm>
            <a:off x="4663440" y="2880360"/>
            <a:ext cx="4023360" cy="1508760"/>
          </a:xfrm>
          <a:prstGeom prst="roundRect">
            <a:avLst>
              <a:gd name="adj" fmla="val 6061"/>
            </a:avLst>
          </a:prstGeom>
          <a:solidFill>
            <a:schemeClr val="bg1">
              <a:alpha val="12000"/>
            </a:schemeClr>
          </a:solidFill>
          <a:ln/>
        </p:spPr>
      </p:sp>
      <p:sp>
        <p:nvSpPr>
          <p:cNvPr id="10" name="Sprint 3 heading"/>
          <p:cNvSpPr txBox="1"/>
          <p:nvPr/>
        </p:nvSpPr>
        <p:spPr>
          <a:xfrm>
            <a:off x="4937760" y="3017520"/>
            <a:ext cx="3474720" cy="365760"/>
          </a:xfrm>
          <a:prstGeom prst="rect">
            <a:avLst/>
          </a:prstGeom>
          <a:noFill/>
          <a:ln/>
        </p:spPr>
        <p:txBody>
          <a:bodyPr wrap="square" lIns="0" tIns="0" rIns="0" bIns="0" rtlCol="0" anchor="ctr"/>
          <a:lstStyle/>
          <a:p>
            <a:pPr indent="0" marL="0">
              <a:buNone/>
            </a:pPr>
            <a:r>
              <a:rPr lang="en-US" sz="2000" b="1" dirty="0">
                <a:solidFill>
                  <a:schemeClr val="accent3"/>
                </a:solidFill>
                <a:latin typeface="Cambria" pitchFamily="34" charset="0"/>
                <a:ea typeface="Cambria" pitchFamily="34" charset="-122"/>
                <a:cs typeface="Cambria" pitchFamily="34" charset="-120"/>
              </a:rPr>
              <a:t>Sprint 3</a:t>
            </a:r>
            <a:endParaRPr lang="en-US" sz="2000" dirty="0"/>
          </a:p>
        </p:txBody>
      </p:sp>
      <p:sp>
        <p:nvSpPr>
          <p:cNvPr id="11" name="Sprint 3 text"/>
          <p:cNvSpPr txBox="1"/>
          <p:nvPr/>
        </p:nvSpPr>
        <p:spPr>
          <a:xfrm>
            <a:off x="4937760" y="3429000"/>
            <a:ext cx="3474720" cy="868680"/>
          </a:xfrm>
          <a:prstGeom prst="rect">
            <a:avLst/>
          </a:prstGeom>
          <a:noFill/>
          <a:ln/>
        </p:spPr>
        <p:txBody>
          <a:bodyPr wrap="square" lIns="0" tIns="0" rIns="0" bIns="0" rtlCol="0" anchor="t"/>
          <a:lstStyle/>
          <a:p>
            <a:pPr indent="0" marL="0">
              <a:buNone/>
            </a:pPr>
            <a:r>
              <a:rPr lang="en-US" sz="1400" dirty="0">
                <a:solidFill>
                  <a:schemeClr val="bg1"/>
                </a:solidFill>
              </a:rPr>
              <a:t>Feature importance, a dashboard and public health recommendations</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Flu Shot Predictors">
  <a:themeElements>
    <a:clrScheme name="Flu Shot Predictors">
      <a:dk1>
        <a:srgbClr val="1B2A3A"/>
      </a:dk1>
      <a:lt1>
        <a:srgbClr val="FFFFFF"/>
      </a:lt1>
      <a:dk2>
        <a:srgbClr val="0B3C49"/>
      </a:dk2>
      <a:lt2>
        <a:srgbClr val="EAF3F4"/>
      </a:lt2>
      <a:accent1>
        <a:srgbClr val="0E7C86"/>
      </a:accent1>
      <a:accent2>
        <a:srgbClr val="E4572E"/>
      </a:accent2>
      <a:accent3>
        <a:srgbClr val="F2B134"/>
      </a:accent3>
      <a:accent4>
        <a:srgbClr val="5B8E7D"/>
      </a:accent4>
      <a:accent5>
        <a:srgbClr val="7A8B99"/>
      </a:accent5>
      <a:accent6>
        <a:srgbClr val="2D6A8F"/>
      </a:accent6>
      <a:hlink>
        <a:srgbClr val="0E7C86"/>
      </a:hlink>
      <a:folHlink>
        <a:srgbClr val="7A8B99"/>
      </a:folHlink>
    </a:clrScheme>
    <a:fontScheme name="Flu Shot Predictor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Flu Shot Predictors - Sprint 1</dc:title>
  <dc:subject>PptxGenJS Presentation</dc:subject>
  <dc:creator>PptxGenJS</dc:creator>
  <cp:lastModifiedBy>PptxGenJS</cp:lastModifiedBy>
  <cp:revision>1</cp:revision>
  <dcterms:created xsi:type="dcterms:W3CDTF">2026-10-15T17:40:36Z</dcterms:created>
  <dcterms:modified xsi:type="dcterms:W3CDTF">2026-10-15T17:40:36Z</dcterms:modified>
</cp:coreProperties>
</file>